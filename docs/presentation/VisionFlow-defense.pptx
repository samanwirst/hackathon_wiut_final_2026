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f1f30943b6f4585" /><Relationship Type="http://schemas.openxmlformats.org/officeDocument/2006/relationships/extended-properties" Target="/docProps/app.xml" Id="R50ceffed47a14215" /><Relationship Type="http://schemas.openxmlformats.org/officeDocument/2006/relationships/officeDocument" Target="/ppt/presentation.xml" Id="Rc1a6d7e2a79a4bf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128760fe8ea49fa"/>
  </p:sldMasterIdLst>
  <p:notesMasterIdLst>
    <p:notesMasterId xmlns:r="http://schemas.openxmlformats.org/officeDocument/2006/relationships" r:id="R0d22a6f3876c4870"/>
  </p:notesMasterIdLst>
  <p:sldIdLst>
    <p:sldId xmlns:r="http://schemas.openxmlformats.org/officeDocument/2006/relationships" id="256" r:id="R28968a533fa64ea1"/>
    <p:sldId xmlns:r="http://schemas.openxmlformats.org/officeDocument/2006/relationships" id="257" r:id="R860c18334f0447a6"/>
    <p:sldId xmlns:r="http://schemas.openxmlformats.org/officeDocument/2006/relationships" id="258" r:id="R22de668b692d405c"/>
    <p:sldId xmlns:r="http://schemas.openxmlformats.org/officeDocument/2006/relationships" id="259" r:id="Rcf6d516dbe474ada"/>
    <p:sldId xmlns:r="http://schemas.openxmlformats.org/officeDocument/2006/relationships" id="260" r:id="Ra59352f79abe4d49"/>
    <p:sldId xmlns:r="http://schemas.openxmlformats.org/officeDocument/2006/relationships" id="261" r:id="R6769b702238e4ebd"/>
    <p:sldId xmlns:r="http://schemas.openxmlformats.org/officeDocument/2006/relationships" id="262" r:id="R125e88c7f4c248af"/>
    <p:sldId xmlns:r="http://schemas.openxmlformats.org/officeDocument/2006/relationships" id="263" r:id="R557c8ea525f7497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f6d937aa9764f97" /><Relationship Type="http://schemas.openxmlformats.org/officeDocument/2006/relationships/slideMaster" Target="/ppt/slideMasters/slideMaster1.xml" Id="Rb128760fe8ea49fa" /><Relationship Type="http://schemas.openxmlformats.org/officeDocument/2006/relationships/notesMaster" Target="/ppt/notesMasters/notesMaster1.xml" Id="R0d22a6f3876c4870" /><Relationship Type="http://schemas.openxmlformats.org/officeDocument/2006/relationships/presProps" Target="/ppt/presProps.xml" Id="R7d5a47c1951b495b" /><Relationship Type="http://schemas.openxmlformats.org/officeDocument/2006/relationships/tableStyles" Target="/ppt/tableStyles.xml" Id="R8ae14c385feb4846" /><Relationship Type="http://schemas.openxmlformats.org/officeDocument/2006/relationships/slide" Target="/ppt/slides/slide1.xml" Id="R28968a533fa64ea1" /><Relationship Type="http://schemas.openxmlformats.org/officeDocument/2006/relationships/slide" Target="/ppt/slides/slide2.xml" Id="R860c18334f0447a6" /><Relationship Type="http://schemas.openxmlformats.org/officeDocument/2006/relationships/slide" Target="/ppt/slides/slide3.xml" Id="R22de668b692d405c" /><Relationship Type="http://schemas.openxmlformats.org/officeDocument/2006/relationships/slide" Target="/ppt/slides/slide4.xml" Id="Rcf6d516dbe474ada" /><Relationship Type="http://schemas.openxmlformats.org/officeDocument/2006/relationships/slide" Target="/ppt/slides/slide5.xml" Id="Ra59352f79abe4d49" /><Relationship Type="http://schemas.openxmlformats.org/officeDocument/2006/relationships/slide" Target="/ppt/slides/slide6.xml" Id="R6769b702238e4ebd" /><Relationship Type="http://schemas.openxmlformats.org/officeDocument/2006/relationships/slide" Target="/ppt/slides/slide7.xml" Id="R125e88c7f4c248af" /><Relationship Type="http://schemas.openxmlformats.org/officeDocument/2006/relationships/slide" Target="/ppt/slides/slide8.xml" Id="R557c8ea525f7497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3bde23d54d7467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bde7a1933ec4f20" /><Relationship Type="http://schemas.openxmlformats.org/officeDocument/2006/relationships/notesMaster" Target="/ppt/notesMasters/notesMaster1.xml" Id="R05b71eb5072e4af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f25b927837541bd" /><Relationship Type="http://schemas.openxmlformats.org/officeDocument/2006/relationships/notesMaster" Target="/ppt/notesMasters/notesMaster1.xml" Id="R60a97aaecf9e4ee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9614ee493cb439d" /><Relationship Type="http://schemas.openxmlformats.org/officeDocument/2006/relationships/notesMaster" Target="/ppt/notesMasters/notesMaster1.xml" Id="Ra3feed83f860400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4a46c35b0d143a7" /><Relationship Type="http://schemas.openxmlformats.org/officeDocument/2006/relationships/notesMaster" Target="/ppt/notesMasters/notesMaster1.xml" Id="R26023d9027b2469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961f5806f1a48ff" /><Relationship Type="http://schemas.openxmlformats.org/officeDocument/2006/relationships/notesMaster" Target="/ppt/notesMasters/notesMaster1.xml" Id="R9a0132365b664ab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3d83b83af6d48d8" /><Relationship Type="http://schemas.openxmlformats.org/officeDocument/2006/relationships/notesMaster" Target="/ppt/notesMasters/notesMaster1.xml" Id="R41b7875a3194460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882d488a4c64a0a" /><Relationship Type="http://schemas.openxmlformats.org/officeDocument/2006/relationships/notesMaster" Target="/ppt/notesMasters/notesMaster1.xml" Id="R65a5b3c582f644d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9a92afe21534fca" /><Relationship Type="http://schemas.openxmlformats.org/officeDocument/2006/relationships/notesMaster" Target="/ppt/notesMasters/notesMaster1.xml" Id="R151aed9d63e74db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1d743da7a541e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bcb50a86e634e32" /><Relationship Type="http://schemas.openxmlformats.org/officeDocument/2006/relationships/slideLayout" Target="/ppt/slideLayouts/slideLayout1.xml" Id="Ra1d6fbfd50ee4f0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1d6fbfd50ee4f0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bb6bf96d4a43cf" /><Relationship Type="http://schemas.openxmlformats.org/officeDocument/2006/relationships/notesSlide" Target="/ppt/notesSlides/notesSlide1.xml" Id="Rc85c2d58f3354f6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ad243ef3d24fea" /><Relationship Type="http://schemas.openxmlformats.org/officeDocument/2006/relationships/image" Target="/ppt/media/image.png" Id="R7bd762f265904e5d" /><Relationship Type="http://schemas.openxmlformats.org/officeDocument/2006/relationships/notesSlide" Target="/ppt/notesSlides/notesSlide2.xml" Id="Rb91ec23ff7c849d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13d280ee17407f" /><Relationship Type="http://schemas.openxmlformats.org/officeDocument/2006/relationships/image" Target="/ppt/media/image2.png" Id="R5d0e734a8a064c59" /><Relationship Type="http://schemas.openxmlformats.org/officeDocument/2006/relationships/notesSlide" Target="/ppt/notesSlides/notesSlide3.xml" Id="R899d2803330c4b9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6c96b860514405" /><Relationship Type="http://schemas.openxmlformats.org/officeDocument/2006/relationships/notesSlide" Target="/ppt/notesSlides/notesSlide4.xml" Id="R9df3cbb3b118442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1a07683ceb4c3f" /><Relationship Type="http://schemas.openxmlformats.org/officeDocument/2006/relationships/image" Target="/ppt/media/image3.png" Id="Ra2d29dc72d974351" /><Relationship Type="http://schemas.openxmlformats.org/officeDocument/2006/relationships/notesSlide" Target="/ppt/notesSlides/notesSlide5.xml" Id="R1594c35fe33549a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2e85e9014a49e5" /><Relationship Type="http://schemas.openxmlformats.org/officeDocument/2006/relationships/notesSlide" Target="/ppt/notesSlides/notesSlide6.xml" Id="Rc9e4765dad804f1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d9ea9843694b5d" /><Relationship Type="http://schemas.openxmlformats.org/officeDocument/2006/relationships/notesSlide" Target="/ppt/notesSlides/notesSlide7.xml" Id="R9712c836a22449c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0b7734e6ed49f2" /><Relationship Type="http://schemas.openxmlformats.org/officeDocument/2006/relationships/notesSlide" Target="/ppt/notesSlides/notesSlide8.xml" Id="Rc3a778c31c24436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mode">
            <a:extLst xmlns:a="http://schemas.openxmlformats.org/drawingml/2006/main">
              <a:ext uri="{FF2B5EF4-FFF2-40B4-BE49-F238E27FC236}">
                <a16:creationId xmlns:a16="http://schemas.microsoft.com/office/drawing/2014/main" id="{C8611ABB-2180-4635-A49D-69E2FA9F3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STARTUP MODE · VISIONFLOW AI</a:t>
            </a:r>
          </a:p>
        </p:txBody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9D8FE40B-1D2F-44AE-8F99-099FBF0A1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0"/>
            <a:ext cx="11277600" cy="2190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Visual operations.
Human-controlled.</a:t>
            </a:r>
          </a:p>
        </p:txBody>
      </p:sp>
      <p:sp>
        <p:nvSpPr>
          <p:cNvPr id="3" name="promise">
            <a:extLst xmlns:a="http://schemas.openxmlformats.org/drawingml/2006/main">
              <a:ext uri="{FF2B5EF4-FFF2-40B4-BE49-F238E27FC236}">
                <a16:creationId xmlns:a16="http://schemas.microsoft.com/office/drawing/2014/main" id="{1EC66067-04A0-49DF-8BBA-3AD03B94F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91125"/>
            <a:ext cx="1127760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Approve a visual rule. Inspect every event.
Teach a small model for one repeatable task.</a:t>
            </a:r>
          </a:p>
        </p:txBody>
      </p:sp>
    </p:spTree>
    <p:extLst>
      <p:ext uri="{BB962C8B-B14F-4D97-AF65-F5344CB8AC3E}">
        <p14:creationId xmlns:p14="http://schemas.microsoft.com/office/powerpoint/2010/main" val="4267990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0025D0D5-E913-47BE-A0AD-766F581FB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112776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Know why an alert fired.</a:t>
            </a:r>
          </a:p>
        </p:txBody>
      </p:sp>
      <p:sp>
        <p:nvSpPr>
          <p:cNvPr id="2" name="buyer">
            <a:extLst xmlns:a="http://schemas.openxmlformats.org/drawingml/2006/main">
              <a:ext uri="{FF2B5EF4-FFF2-40B4-BE49-F238E27FC236}">
                <a16:creationId xmlns:a16="http://schemas.microsoft.com/office/drawing/2014/main" id="{F4F987A8-E9ED-4D4B-993D-AC8C21778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5238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For service-centre operators</a:t>
            </a:r>
          </a:p>
        </p:txBody>
      </p:sp>
      <p:sp>
        <p:nvSpPr>
          <p:cNvPr id="3" name="pain">
            <a:extLst xmlns:a="http://schemas.openxmlformats.org/drawingml/2006/main">
              <a:ext uri="{FF2B5EF4-FFF2-40B4-BE49-F238E27FC236}">
                <a16:creationId xmlns:a16="http://schemas.microsoft.com/office/drawing/2014/main" id="{810D01AD-021C-441B-87AB-2A31CB65B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71750"/>
            <a:ext cx="4762500" cy="1762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Recorded footage needs an operational rule, a clear approval boundary, and evidence that a manager can inspect.</a:t>
            </a:r>
          </a:p>
        </p:txBody>
      </p:sp>
      <p:sp>
        <p:nvSpPr>
          <p:cNvPr id="4" name="result">
            <a:extLst xmlns:a="http://schemas.openxmlformats.org/drawingml/2006/main">
              <a:ext uri="{FF2B5EF4-FFF2-40B4-BE49-F238E27FC236}">
                <a16:creationId xmlns:a16="http://schemas.microsoft.com/office/drawing/2014/main" id="{D69DA35B-10C3-497F-AF87-172D903EE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95825"/>
            <a:ext cx="4762500" cy="1190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A real geometric event
with a saved evidence frame
and a local notification.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047A04B2-2B53-491A-A966-8278050EA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495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d762f265904e5d"/>
          <a:srcRect xmlns:a="http://schemas.openxmlformats.org/drawingml/2006/main" l="1906" t="0" r="190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10250" y="1428750"/>
            <a:ext cx="5905500" cy="4476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6303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B3E4DAFE-8469-4E85-8596-3AABAD03D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112776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Configure, approve, observe.</a:t>
            </a:r>
          </a:p>
        </p:txBody>
      </p:sp>
      <p:sp>
        <p:nvSpPr>
          <p:cNvPr id="2" name="journey">
            <a:extLst xmlns:a="http://schemas.openxmlformats.org/drawingml/2006/main">
              <a:ext uri="{FF2B5EF4-FFF2-40B4-BE49-F238E27FC236}">
                <a16:creationId xmlns:a16="http://schemas.microsoft.com/office/drawing/2014/main" id="{A6B5253C-5514-48C9-838E-34FA6E6C0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4619625" cy="3714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1  Select a recorded MP4
2  Draw a polygon and set a rule
3  Review the validated JSON
4  Approve, run, inspect evidence</a:t>
            </a:r>
          </a:p>
        </p:txBody>
      </p:sp>
      <p:sp>
        <p:nvSpPr>
          <p:cNvPr id="3" name="controls">
            <a:extLst xmlns:a="http://schemas.openxmlformats.org/drawingml/2006/main">
              <a:ext uri="{FF2B5EF4-FFF2-40B4-BE49-F238E27FC236}">
                <a16:creationId xmlns:a16="http://schemas.microsoft.com/office/drawing/2014/main" id="{5F59D8D7-5111-42AC-84B1-A8548A365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57875"/>
            <a:ext cx="112776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Edit · disable · review and re-enable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44B8A136-6A74-4D5B-B50F-53D50C482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495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t>3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0e734a8a064c59"/>
          <a:srcRect xmlns:a="http://schemas.openxmlformats.org/drawingml/2006/main" l="34" t="0" r="3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0" y="1466850"/>
            <a:ext cx="6191250" cy="34956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3373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17970DF1-F923-4472-A5D9-211713437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112776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Observe cheaply. Learn selectively.</a:t>
            </a:r>
          </a:p>
        </p:txBody>
      </p:sp>
      <p:sp>
        <p:nvSpPr>
          <p:cNvPr id="2" name="pipeline">
            <a:extLst xmlns:a="http://schemas.openxmlformats.org/drawingml/2006/main">
              <a:ext uri="{FF2B5EF4-FFF2-40B4-BE49-F238E27FC236}">
                <a16:creationId xmlns:a16="http://schemas.microsoft.com/office/drawing/2014/main" id="{0EBBB8E0-71BC-4A70-B9B8-94C55681C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CCCC"/>
          </a:solidFill>
        </p:spPr>
      </p:sp>
      <p:sp>
        <p:nvSpPr>
          <p:cNvPr id="3" name="stage1">
            <a:extLst xmlns:a="http://schemas.openxmlformats.org/drawingml/2006/main">
              <a:ext uri="{FF2B5EF4-FFF2-40B4-BE49-F238E27FC236}">
                <a16:creationId xmlns:a16="http://schemas.microsoft.com/office/drawing/2014/main" id="{AD45D6CE-08A9-4048-B4F2-27ED0C909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00250"/>
            <a:ext cx="32385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Observe</a:t>
            </a:r>
          </a:p>
        </p:txBody>
      </p:sp>
      <p:sp>
        <p:nvSpPr>
          <p:cNvPr id="4" name="stage2">
            <a:extLst xmlns:a="http://schemas.openxmlformats.org/drawingml/2006/main">
              <a:ext uri="{FF2B5EF4-FFF2-40B4-BE49-F238E27FC236}">
                <a16:creationId xmlns:a16="http://schemas.microsoft.com/office/drawing/2014/main" id="{39A4D6E2-F095-4B18-A1A4-870DCD755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000250"/>
            <a:ext cx="32385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Understand</a:t>
            </a:r>
          </a:p>
        </p:txBody>
      </p:sp>
      <p:sp>
        <p:nvSpPr>
          <p:cNvPr id="5" name="stage3">
            <a:extLst xmlns:a="http://schemas.openxmlformats.org/drawingml/2006/main">
              <a:ext uri="{FF2B5EF4-FFF2-40B4-BE49-F238E27FC236}">
                <a16:creationId xmlns:a16="http://schemas.microsoft.com/office/drawing/2014/main" id="{FCF4D1A6-8F7E-4DCF-8D15-FF0C3A4A2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00250"/>
            <a:ext cx="32385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Specialize</a:t>
            </a:r>
          </a:p>
        </p:txBody>
      </p:sp>
      <p:sp>
        <p:nvSpPr>
          <p:cNvPr id="6" name="observe">
            <a:extLst xmlns:a="http://schemas.openxmlformats.org/drawingml/2006/main">
              <a:ext uri="{FF2B5EF4-FFF2-40B4-BE49-F238E27FC236}">
                <a16:creationId xmlns:a16="http://schemas.microsoft.com/office/drawing/2014/main" id="{F3897358-8AD7-4C92-871C-6809D0D59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43300"/>
            <a:ext cx="3238500" cy="1371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Detector + tracker
Temporal rules
Selected candidate events</a:t>
            </a:r>
          </a:p>
        </p:txBody>
      </p:sp>
      <p:sp>
        <p:nvSpPr>
          <p:cNvPr id="7" name="understand">
            <a:extLst xmlns:a="http://schemas.openxmlformats.org/drawingml/2006/main">
              <a:ext uri="{FF2B5EF4-FFF2-40B4-BE49-F238E27FC236}">
                <a16:creationId xmlns:a16="http://schemas.microsoft.com/office/drawing/2014/main" id="{DFEAAAE7-107E-4051-B068-24097D392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543300"/>
            <a:ext cx="3238500" cy="1371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Private image Teacher
Strict label validation
Human review and correction</a:t>
            </a:r>
          </a:p>
        </p:txBody>
      </p:sp>
      <p:sp>
        <p:nvSpPr>
          <p:cNvPr id="8" name="specialize">
            <a:extLst xmlns:a="http://schemas.openxmlformats.org/drawingml/2006/main">
              <a:ext uri="{FF2B5EF4-FFF2-40B4-BE49-F238E27FC236}">
                <a16:creationId xmlns:a16="http://schemas.microsoft.com/office/drawing/2014/main" id="{CB6E1DDA-CEE6-4695-B81E-A8C129CA3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543300"/>
            <a:ext cx="3238500" cy="1371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Frozen image embeddings
Small fitted Student
Shadow → manual activation</a:t>
            </a:r>
          </a:p>
        </p:txBody>
      </p:sp>
      <p:sp>
        <p:nvSpPr>
          <p:cNvPr id="9" name="status1">
            <a:extLst xmlns:a="http://schemas.openxmlformats.org/drawingml/2006/main">
              <a:ext uri="{FF2B5EF4-FFF2-40B4-BE49-F238E27FC236}">
                <a16:creationId xmlns:a16="http://schemas.microsoft.com/office/drawing/2014/main" id="{5C611B80-0FA4-4E50-8804-C9288593B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86375"/>
            <a:ext cx="3238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Verified geometric demo</a:t>
            </a:r>
          </a:p>
        </p:txBody>
      </p:sp>
      <p:sp>
        <p:nvSpPr>
          <p:cNvPr id="10" name="status2">
            <a:extLst xmlns:a="http://schemas.openxmlformats.org/drawingml/2006/main">
              <a:ext uri="{FF2B5EF4-FFF2-40B4-BE49-F238E27FC236}">
                <a16:creationId xmlns:a16="http://schemas.microsoft.com/office/drawing/2014/main" id="{EC4E5021-C96F-41FF-B8D7-8BD0102CB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286375"/>
            <a:ext cx="3238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24 human-verified images;
12 Teacher corrections</a:t>
            </a:r>
          </a:p>
        </p:txBody>
      </p:sp>
      <p:sp>
        <p:nvSpPr>
          <p:cNvPr id="11" name="status3">
            <a:extLst xmlns:a="http://schemas.openxmlformats.org/drawingml/2006/main">
              <a:ext uri="{FF2B5EF4-FFF2-40B4-BE49-F238E27FC236}">
                <a16:creationId xmlns:a16="http://schemas.microsoft.com/office/drawing/2014/main" id="{81607441-F28F-451A-97A8-AF8E00AC1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286375"/>
            <a:ext cx="3238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Real fit + reload + shadow;
QA corrections still required</a:t>
            </a:r>
          </a:p>
        </p:txBody>
      </p:sp>
      <p:sp>
        <p:nvSpPr>
          <p:cNvPr id="12" name="page">
            <a:extLst xmlns:a="http://schemas.openxmlformats.org/drawingml/2006/main">
              <a:ext uri="{FF2B5EF4-FFF2-40B4-BE49-F238E27FC236}">
                <a16:creationId xmlns:a16="http://schemas.microsoft.com/office/drawing/2014/main" id="{38670F2E-D4E3-45A9-8A87-B0F284CE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495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5471808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3B77794C-8BD9-4345-9A05-E0515672E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112776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A measured synthetic pilot.</a:t>
            </a:r>
          </a:p>
        </p:txBody>
      </p:sp>
      <p:sp>
        <p:nvSpPr>
          <p:cNvPr id="2" name="head1">
            <a:extLst xmlns:a="http://schemas.openxmlformats.org/drawingml/2006/main">
              <a:ext uri="{FF2B5EF4-FFF2-40B4-BE49-F238E27FC236}">
                <a16:creationId xmlns:a16="http://schemas.microsoft.com/office/drawing/2014/main" id="{69E1E350-1727-4946-919B-F9F5E7001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85900"/>
            <a:ext cx="53911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Local GPU Teacher</a:t>
            </a:r>
          </a:p>
        </p:txBody>
      </p:sp>
      <p:sp>
        <p:nvSpPr>
          <p:cNvPr id="3" name="head2">
            <a:extLst xmlns:a="http://schemas.openxmlformats.org/drawingml/2006/main">
              <a:ext uri="{FF2B5EF4-FFF2-40B4-BE49-F238E27FC236}">
                <a16:creationId xmlns:a16="http://schemas.microsoft.com/office/drawing/2014/main" id="{BF7DB303-A8A3-47D9-884C-08A92E632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85900"/>
            <a:ext cx="51625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CPU Student</a:t>
            </a:r>
          </a:p>
        </p:txBody>
      </p:sp>
      <p:sp>
        <p:nvSpPr>
          <p:cNvPr id="4" name="rowrule">
            <a:extLst xmlns:a="http://schemas.openxmlformats.org/drawingml/2006/main">
              <a:ext uri="{FF2B5EF4-FFF2-40B4-BE49-F238E27FC236}">
                <a16:creationId xmlns:a16="http://schemas.microsoft.com/office/drawing/2014/main" id="{7A4FBF68-E71F-417A-97AF-57BE3FF1F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288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CCCC"/>
          </a:solidFill>
        </p:spPr>
      </p:sp>
      <p:sp>
        <p:nvSpPr>
          <p:cNvPr id="5" name="teacherresult">
            <a:extLst xmlns:a="http://schemas.openxmlformats.org/drawingml/2006/main">
              <a:ext uri="{FF2B5EF4-FFF2-40B4-BE49-F238E27FC236}">
                <a16:creationId xmlns:a16="http://schemas.microsoft.com/office/drawing/2014/main" id="{EF0A92FE-1E3B-47DA-BFB5-CB0829196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33625"/>
            <a:ext cx="539115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3 / 6 correct · recall 1.0
432.8 ms mean wall latency
18 requests · 36 model forwards</a:t>
            </a:r>
          </a:p>
        </p:txBody>
      </p:sp>
      <p:sp>
        <p:nvSpPr>
          <p:cNvPr id="6" name="studentresult">
            <a:extLst xmlns:a="http://schemas.openxmlformats.org/drawingml/2006/main">
              <a:ext uri="{FF2B5EF4-FFF2-40B4-BE49-F238E27FC236}">
                <a16:creationId xmlns:a16="http://schemas.microsoft.com/office/drawing/2014/main" id="{20A86883-8623-4F20-9430-8063C59C4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33625"/>
            <a:ext cx="516255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6 / 6 correct · recall 1.0
40.2 ms mean wall latency
0 Teacher requests</a:t>
            </a:r>
          </a:p>
        </p:txBody>
      </p:sp>
      <p:sp>
        <p:nvSpPr>
          <p:cNvPr id="7" name="limit">
            <a:extLst xmlns:a="http://schemas.openxmlformats.org/drawingml/2006/main">
              <a:ext uri="{FF2B5EF4-FFF2-40B4-BE49-F238E27FC236}">
                <a16:creationId xmlns:a16="http://schemas.microsoft.com/office/drawing/2014/main" id="{F2DC04A8-BD5E-4CA6-AFDA-067FC4EAA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15050"/>
            <a:ext cx="10572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t>6 unique synthetic inputs; 18 timing samples. Experimental QA: CHANGES_REQUIRED. Natural quality / costs: UNVERIFIED.</a:t>
            </a:r>
          </a:p>
        </p:txBody>
      </p:sp>
      <p:sp>
        <p:nvSpPr>
          <p:cNvPr id="8" name="page">
            <a:extLst xmlns:a="http://schemas.openxmlformats.org/drawingml/2006/main">
              <a:ext uri="{FF2B5EF4-FFF2-40B4-BE49-F238E27FC236}">
                <a16:creationId xmlns:a16="http://schemas.microsoft.com/office/drawing/2014/main" id="{56ACECCD-667A-4A92-BE66-DBF05CD08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495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t>5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d29dc72d974351"/>
          <a:srcRect xmlns:a="http://schemas.openxmlformats.org/drawingml/2006/main" l="24" t="0" r="2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3743325"/>
            <a:ext cx="11277600" cy="22955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8431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C55E8096-1FFC-4009-B3BC-2F4C707A7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112776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Price the operational benefit.</a:t>
            </a:r>
          </a:p>
        </p:txBody>
      </p:sp>
      <p:sp>
        <p:nvSpPr>
          <p:cNvPr id="2" name="revenuehead">
            <a:extLst xmlns:a="http://schemas.openxmlformats.org/drawingml/2006/main">
              <a:ext uri="{FF2B5EF4-FFF2-40B4-BE49-F238E27FC236}">
                <a16:creationId xmlns:a16="http://schemas.microsoft.com/office/drawing/2014/main" id="{1E3B8B0A-755B-4070-BD5C-E674562B0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52387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Pricing hypothesis</a:t>
            </a:r>
          </a:p>
        </p:txBody>
      </p:sp>
      <p:sp>
        <p:nvSpPr>
          <p:cNvPr id="3" name="revenue">
            <a:extLst xmlns:a="http://schemas.openxmlformats.org/drawingml/2006/main">
              <a:ext uri="{FF2B5EF4-FFF2-40B4-BE49-F238E27FC236}">
                <a16:creationId xmlns:a16="http://schemas.microsoft.com/office/drawing/2014/main" id="{C655A92D-B1B9-4A35-BB1B-F9F3B4689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71750"/>
            <a:ext cx="5238750" cy="2476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Per-camera / site subscription.
One repeatable workflow first.
Willingness to pay and pricing
remain UNVERIFIED.</a:t>
            </a:r>
          </a:p>
        </p:txBody>
      </p:sp>
      <p:sp>
        <p:nvSpPr>
          <p:cNvPr id="4" name="costhead">
            <a:extLst xmlns:a="http://schemas.openxmlformats.org/drawingml/2006/main">
              <a:ext uri="{FF2B5EF4-FFF2-40B4-BE49-F238E27FC236}">
                <a16:creationId xmlns:a16="http://schemas.microsoft.com/office/drawing/2014/main" id="{8246C6F6-5066-421F-862E-B5FE7A604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19250"/>
            <a:ext cx="51625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Measure the unit cost</a:t>
            </a:r>
          </a:p>
        </p:txBody>
      </p:sp>
      <p:sp>
        <p:nvSpPr>
          <p:cNvPr id="5" name="cost">
            <a:extLst xmlns:a="http://schemas.openxmlformats.org/drawingml/2006/main">
              <a:ext uri="{FF2B5EF4-FFF2-40B4-BE49-F238E27FC236}">
                <a16:creationId xmlns:a16="http://schemas.microsoft.com/office/drawing/2014/main" id="{FC297E2F-5961-4BEA-8A12-175944578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71750"/>
            <a:ext cx="5162550" cy="2476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GPU rental + storage + network.
CPU inference + support.
Cost per event from actual
runtime and processed events.</a:t>
            </a:r>
          </a:p>
        </p:txBody>
      </p:sp>
      <p:sp>
        <p:nvSpPr>
          <p:cNvPr id="6" name="cap">
            <a:extLst xmlns:a="http://schemas.openxmlformats.org/drawingml/2006/main">
              <a:ext uri="{FF2B5EF4-FFF2-40B4-BE49-F238E27FC236}">
                <a16:creationId xmlns:a16="http://schemas.microsoft.com/office/drawing/2014/main" id="{BD79164D-AC80-478E-9C71-BF61DBA01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67350"/>
            <a:ext cx="10763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Vast closed: $0.001 rounded disk charge. Final invoice UNVERIFIED; no remote inference.</a:t>
            </a:r>
          </a:p>
        </p:txBody>
      </p:sp>
      <p:sp>
        <p:nvSpPr>
          <p:cNvPr id="7" name="roi">
            <a:extLst xmlns:a="http://schemas.openxmlformats.org/drawingml/2006/main">
              <a:ext uri="{FF2B5EF4-FFF2-40B4-BE49-F238E27FC236}">
                <a16:creationId xmlns:a16="http://schemas.microsoft.com/office/drawing/2014/main" id="{DCF10F1F-F096-4D9A-AE1D-605F4DB8F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9800"/>
            <a:ext cx="10763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t>ROI = observed staff time saved × actual labour rate − measured system expense.</a:t>
            </a:r>
          </a:p>
        </p:txBody>
      </p:sp>
      <p:sp>
        <p:nvSpPr>
          <p:cNvPr id="8" name="page">
            <a:extLst xmlns:a="http://schemas.openxmlformats.org/drawingml/2006/main">
              <a:ext uri="{FF2B5EF4-FFF2-40B4-BE49-F238E27FC236}">
                <a16:creationId xmlns:a16="http://schemas.microsoft.com/office/drawing/2014/main" id="{A50B4537-E99F-4E6C-9EE1-CC289C414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495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0447331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B3B1F61E-6415-4450-BF7E-F52FD5C1E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112776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A three-month pilot.</a:t>
            </a:r>
          </a:p>
        </p:txBody>
      </p:sp>
      <p:sp>
        <p:nvSpPr>
          <p:cNvPr id="2" name="pilot">
            <a:extLst xmlns:a="http://schemas.openxmlformats.org/drawingml/2006/main">
              <a:ext uri="{FF2B5EF4-FFF2-40B4-BE49-F238E27FC236}">
                <a16:creationId xmlns:a16="http://schemas.microsoft.com/office/drawing/2014/main" id="{4AC5AE77-CBCE-4E16-AE7A-34FD52881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623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CCCC"/>
          </a:solidFill>
        </p:spPr>
      </p:sp>
      <p:sp>
        <p:nvSpPr>
          <p:cNvPr id="3" name="month1">
            <a:extLst xmlns:a="http://schemas.openxmlformats.org/drawingml/2006/main">
              <a:ext uri="{FF2B5EF4-FFF2-40B4-BE49-F238E27FC236}">
                <a16:creationId xmlns:a16="http://schemas.microsoft.com/office/drawing/2014/main" id="{87EEB5C6-A762-49C7-B931-DF52B5A4A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0"/>
            <a:ext cx="32385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Month 1</a:t>
            </a:r>
          </a:p>
        </p:txBody>
      </p:sp>
      <p:sp>
        <p:nvSpPr>
          <p:cNvPr id="4" name="month2">
            <a:extLst xmlns:a="http://schemas.openxmlformats.org/drawingml/2006/main">
              <a:ext uri="{FF2B5EF4-FFF2-40B4-BE49-F238E27FC236}">
                <a16:creationId xmlns:a16="http://schemas.microsoft.com/office/drawing/2014/main" id="{353A8E78-8B60-4DC5-882A-DAF18994B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381250"/>
            <a:ext cx="32385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Month 2</a:t>
            </a:r>
          </a:p>
        </p:txBody>
      </p:sp>
      <p:sp>
        <p:nvSpPr>
          <p:cNvPr id="5" name="month3">
            <a:extLst xmlns:a="http://schemas.openxmlformats.org/drawingml/2006/main">
              <a:ext uri="{FF2B5EF4-FFF2-40B4-BE49-F238E27FC236}">
                <a16:creationId xmlns:a16="http://schemas.microsoft.com/office/drawing/2014/main" id="{7F326AA1-4C68-4E66-888A-8CA0B3D88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81250"/>
            <a:ext cx="32385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Month 3</a:t>
            </a:r>
          </a:p>
        </p:txBody>
      </p:sp>
      <p:sp>
        <p:nvSpPr>
          <p:cNvPr id="6" name="pilot1">
            <a:extLst xmlns:a="http://schemas.openxmlformats.org/drawingml/2006/main">
              <a:ext uri="{FF2B5EF4-FFF2-40B4-BE49-F238E27FC236}">
                <a16:creationId xmlns:a16="http://schemas.microsoft.com/office/drawing/2014/main" id="{210285D5-8D3B-47CA-A323-A448169D7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14750"/>
            <a:ext cx="32385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Define one task</a:t>
            </a:r>
          </a:p>
        </p:txBody>
      </p:sp>
      <p:sp>
        <p:nvSpPr>
          <p:cNvPr id="7" name="pilot2">
            <a:extLst xmlns:a="http://schemas.openxmlformats.org/drawingml/2006/main">
              <a:ext uri="{FF2B5EF4-FFF2-40B4-BE49-F238E27FC236}">
                <a16:creationId xmlns:a16="http://schemas.microsoft.com/office/drawing/2014/main" id="{D4DFCC9F-9FCB-4592-AF39-47986CC23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714750"/>
            <a:ext cx="32385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Validate in shadow</a:t>
            </a:r>
          </a:p>
        </p:txBody>
      </p:sp>
      <p:sp>
        <p:nvSpPr>
          <p:cNvPr id="8" name="pilot3">
            <a:extLst xmlns:a="http://schemas.openxmlformats.org/drawingml/2006/main">
              <a:ext uri="{FF2B5EF4-FFF2-40B4-BE49-F238E27FC236}">
                <a16:creationId xmlns:a16="http://schemas.microsoft.com/office/drawing/2014/main" id="{2CE60926-937D-4EFE-878B-0F9608B90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714750"/>
            <a:ext cx="32385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Approve a rollout</a:t>
            </a:r>
          </a:p>
        </p:txBody>
      </p:sp>
      <p:sp>
        <p:nvSpPr>
          <p:cNvPr id="9" name="pilotbody1">
            <a:extLst xmlns:a="http://schemas.openxmlformats.org/drawingml/2006/main">
              <a:ext uri="{FF2B5EF4-FFF2-40B4-BE49-F238E27FC236}">
                <a16:creationId xmlns:a16="http://schemas.microsoft.com/office/drawing/2014/main" id="{F0EEA1A8-C5BA-4910-A598-1B4AB50B4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19600"/>
            <a:ext cx="3238500" cy="1381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Partner footage and consent
Agree event definitions
Collect reviewed examples</a:t>
            </a:r>
          </a:p>
        </p:txBody>
      </p:sp>
      <p:sp>
        <p:nvSpPr>
          <p:cNvPr id="10" name="pilotbody2">
            <a:extLst xmlns:a="http://schemas.openxmlformats.org/drawingml/2006/main">
              <a:ext uri="{FF2B5EF4-FFF2-40B4-BE49-F238E27FC236}">
                <a16:creationId xmlns:a16="http://schemas.microsoft.com/office/drawing/2014/main" id="{27D5B13C-E8BF-4503-9051-8B25DBAE7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419600"/>
            <a:ext cx="3238500" cy="1381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Held-out sessions
Measure missed/false events
Measure GPU cost and latency</a:t>
            </a:r>
          </a:p>
        </p:txBody>
      </p:sp>
      <p:sp>
        <p:nvSpPr>
          <p:cNvPr id="11" name="pilotbody3">
            <a:extLst xmlns:a="http://schemas.openxmlformats.org/drawingml/2006/main">
              <a:ext uri="{FF2B5EF4-FFF2-40B4-BE49-F238E27FC236}">
                <a16:creationId xmlns:a16="http://schemas.microsoft.com/office/drawing/2014/main" id="{B799F0FE-EB99-4CE3-8100-A54EF33CF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419600"/>
            <a:ext cx="3238500" cy="1381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Manual activation gate
Persist the prior version
Verify rollback and support</a:t>
            </a:r>
          </a:p>
        </p:txBody>
      </p:sp>
      <p:sp>
        <p:nvSpPr>
          <p:cNvPr id="12" name="pilotfoot">
            <a:extLst xmlns:a="http://schemas.openxmlformats.org/drawingml/2006/main">
              <a:ext uri="{FF2B5EF4-FFF2-40B4-BE49-F238E27FC236}">
                <a16:creationId xmlns:a16="http://schemas.microsoft.com/office/drawing/2014/main" id="{801537F1-C299-4C1D-B737-AD3FC4678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57900"/>
            <a:ext cx="10763250" cy="314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t>Proposed pilot. Adoption, willingness to pay, and ROI have not been measured.</a:t>
            </a:r>
          </a:p>
        </p:txBody>
      </p:sp>
      <p:sp>
        <p:nvSpPr>
          <p:cNvPr id="13" name="page">
            <a:extLst xmlns:a="http://schemas.openxmlformats.org/drawingml/2006/main">
              <a:ext uri="{FF2B5EF4-FFF2-40B4-BE49-F238E27FC236}">
                <a16:creationId xmlns:a16="http://schemas.microsoft.com/office/drawing/2014/main" id="{D8B470D4-01DD-404B-921A-37E158E31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495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6692099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5388818F-C921-44B8-877C-02961B470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112776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Start with one accountable task.</a:t>
            </a:r>
          </a:p>
        </p:txBody>
      </p:sp>
      <p:sp>
        <p:nvSpPr>
          <p:cNvPr id="2" name="ask">
            <a:extLst xmlns:a="http://schemas.openxmlformats.org/drawingml/2006/main">
              <a:ext uri="{FF2B5EF4-FFF2-40B4-BE49-F238E27FC236}">
                <a16:creationId xmlns:a16="http://schemas.microsoft.com/office/drawing/2014/main" id="{771E3BED-0F03-42BE-A393-2067272F3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47875"/>
            <a:ext cx="11277600" cy="1381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Pilot a repeatable service-bay event
with a manager who owns the decision.</a:t>
            </a:r>
          </a:p>
        </p:txBody>
      </p:sp>
      <p:sp>
        <p:nvSpPr>
          <p:cNvPr id="3" name="scope">
            <a:extLst xmlns:a="http://schemas.openxmlformats.org/drawingml/2006/main">
              <a:ext uri="{FF2B5EF4-FFF2-40B4-BE49-F238E27FC236}">
                <a16:creationId xmlns:a16="http://schemas.microsoft.com/office/drawing/2014/main" id="{2270CA90-CB5B-45E2-B84E-57C10C94E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38600"/>
            <a:ext cx="11277600" cy="1485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Today: approved geometric analytics and inspectable evidence.
Experimental: local Teacher and human-gated AutoLearn.
Unavailable: unsafe agent actions and public integrations.</a:t>
            </a:r>
          </a:p>
        </p:txBody>
      </p:sp>
      <p:sp>
        <p:nvSpPr>
          <p:cNvPr id="4" name="claim">
            <a:extLst xmlns:a="http://schemas.openxmlformats.org/drawingml/2006/main">
              <a:ext uri="{FF2B5EF4-FFF2-40B4-BE49-F238E27FC236}">
                <a16:creationId xmlns:a16="http://schemas.microsoft.com/office/drawing/2014/main" id="{E924DA8C-2C19-4D75-B147-4F3A0822C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53125"/>
            <a:ext cx="10763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A reliable demo first. Adaptive automation earns activation through measured quality.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0D14BB0-3462-4374-B399-D855DD695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495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5153373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2026-10-10T23:04:10.0910000Z</dcterms:created>
  <dcterms:modified xsi:type="dcterms:W3CDTF">2026-10-10T23:04:10.0910000Z</dcterms:modified>
</coreProperties>
</file>